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image" Target="../media/image-1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0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645920"/>
            <a:ext cx="4754880" cy="4754880"/>
          </a:xfrm>
          <a:prstGeom prst="ellipse">
            <a:avLst/>
          </a:prstGeom>
          <a:solidFill>
            <a:srgbClr val="1E2F5C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389120"/>
            <a:ext cx="4114800" cy="4114800"/>
          </a:xfrm>
          <a:prstGeom prst="ellipse">
            <a:avLst/>
          </a:prstGeom>
          <a:solidFill>
            <a:srgbClr val="1E2F5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85800"/>
            <a:ext cx="502920" cy="502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17320" y="713232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LAPORAN SKRIPSI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77240" y="2331720"/>
            <a:ext cx="98755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Deteksi Anomali Transaksi Kartu Kredit</a:t>
            </a:r>
            <a:endParaRPr lang="en-US" sz="4200" dirty="0"/>
          </a:p>
        </p:txBody>
      </p:sp>
      <p:sp>
        <p:nvSpPr>
          <p:cNvPr id="7" name="Text 4"/>
          <p:cNvSpPr/>
          <p:nvPr/>
        </p:nvSpPr>
        <p:spPr>
          <a:xfrm>
            <a:off x="777240" y="3063240"/>
            <a:ext cx="9875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Menggunakan Algoritma Isolation Forest</a:t>
            </a:r>
            <a:endParaRPr lang="en-US" sz="2600" dirty="0"/>
          </a:p>
        </p:txBody>
      </p:sp>
      <p:sp>
        <p:nvSpPr>
          <p:cNvPr id="8" name="Shape 5"/>
          <p:cNvSpPr/>
          <p:nvPr/>
        </p:nvSpPr>
        <p:spPr>
          <a:xfrm>
            <a:off x="822960" y="3977640"/>
            <a:ext cx="2926080" cy="0"/>
          </a:xfrm>
          <a:prstGeom prst="line">
            <a:avLst/>
          </a:prstGeom>
          <a:noFill/>
          <a:ln w="15875">
            <a:solidFill>
              <a:srgbClr val="CADCFC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95528" y="4206240"/>
            <a:ext cx="5486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Sahal Anwar Hadi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24260032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95528" y="507492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Studi Teknik Informatika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Fakultas Teknik dan Ilmu Komputer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Universitas Nahdlatul Ulama Indonesia — 2026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DAFTAR ISI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0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Alur Presentasi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5F7FB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B153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56232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7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77240" y="235000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Pendahuluan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77240" y="267919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Latar belakang, rumusan masalah, tujuan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343400" y="169164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5F7FB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B153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572000" y="1856232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7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4572000" y="235000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Tinjauan Pustaka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572000" y="267919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Penelitian terdahulu &amp; landasan teori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8138160" y="1691640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5F7FB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B153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66760" y="1856232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7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8366760" y="2350008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Metodologi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66760" y="2679192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Kerangka berpikir &amp; dataset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364992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5F7FB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B153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3529584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7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777240" y="40233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Implementasi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777240" y="4352544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 &amp; konfigurasi model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43400" y="3364992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5F7FB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B153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572000" y="3529584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7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4572000" y="40233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&amp; Analisis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72000" y="4352544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Evaluasi performa &amp; temuan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8138160" y="3364992"/>
            <a:ext cx="3520440" cy="1417320"/>
          </a:xfrm>
          <a:prstGeom prst="roundRect">
            <a:avLst>
              <a:gd name="adj" fmla="val 5161"/>
            </a:avLst>
          </a:prstGeom>
          <a:solidFill>
            <a:srgbClr val="F5F7FB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B153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8366760" y="3529584"/>
            <a:ext cx="1097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7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2600" dirty="0"/>
          </a:p>
        </p:txBody>
      </p:sp>
      <p:sp>
        <p:nvSpPr>
          <p:cNvPr id="26" name="Text 24"/>
          <p:cNvSpPr/>
          <p:nvPr/>
        </p:nvSpPr>
        <p:spPr>
          <a:xfrm>
            <a:off x="8366760" y="4023360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32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Penutup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8366760" y="4352544"/>
            <a:ext cx="3063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Kesimpulan &amp; saran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Deteksi Anomali Transaksi Kartu Kredit — Isolation Forest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1 · PENDAHULUAN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0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Latar Belakang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309360" cy="2834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Transaksi digital tumbuh pesat, namun risiko </a:t>
            </a:r>
            <a:pPr indent="0" marL="0">
              <a:spcAft>
                <a:spcPts val="1400"/>
              </a:spcAft>
              <a:buNone/>
            </a:pPr>
            <a:r>
              <a:rPr lang="en-US" sz="14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</a:t>
            </a:r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kartu kredit ikut meningkat dan merugikan konsumen maupun institusi keuangan.</a:t>
            </a:r>
            <a:endParaRPr lang="en-US" sz="1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Transaksi fraud bersifat minoritas ekstrem di tengah jutaan transaksi normal — deteksi manual tidak efisien dan rentan salah.</a:t>
            </a:r>
            <a:endParaRPr lang="en-US" sz="14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Metode </a:t>
            </a:r>
            <a:pPr indent="0" marL="0">
              <a:spcAft>
                <a:spcPts val="1400"/>
              </a:spcAft>
              <a:buNone/>
            </a:pPr>
            <a:r>
              <a:rPr lang="en-US" sz="1400" i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learning</a:t>
            </a:r>
            <a:pPr indent="0" marL="0">
              <a:spcAft>
                <a:spcPts val="1400"/>
              </a:spcAft>
              <a:buNone/>
            </a:pPr>
            <a:r>
              <a:rPr lang="en-US" sz="14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butuh label data yang mahal &amp; lambat, serta bias pada data yang sangat imbalanced.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4572000"/>
            <a:ext cx="6309360" cy="1417320"/>
          </a:xfrm>
          <a:prstGeom prst="roundRect">
            <a:avLst>
              <a:gd name="adj" fmla="val 5161"/>
            </a:avLst>
          </a:prstGeom>
          <a:solidFill>
            <a:srgbClr val="CADC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B1530">
                <a:alpha val="18000"/>
              </a:srgbClr>
            </a:outerShdw>
          </a:effectLst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828032"/>
            <a:ext cx="502920" cy="5029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4709160"/>
            <a:ext cx="525780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32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Solusi: </a:t>
            </a:r>
            <a:pPr indent="0" marL="0">
              <a:buNone/>
            </a:pPr>
            <a:r>
              <a:rPr lang="en-US" sz="1250" dirty="0">
                <a:solidFill>
                  <a:srgbClr val="132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(Liu et al., 2008) — metode unsupervised yang mengisolasi anomali langsung lewat struktur pohon biner, tanpa butuh label fraud.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178040" y="1600200"/>
            <a:ext cx="4480560" cy="1298448"/>
          </a:xfrm>
          <a:prstGeom prst="roundRect">
            <a:avLst>
              <a:gd name="adj" fmla="val 5634"/>
            </a:avLst>
          </a:prstGeom>
          <a:solidFill>
            <a:srgbClr val="132043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B153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406640" y="1709928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7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284.807</a:t>
            </a:r>
            <a:endParaRPr lang="en-US" sz="3000" dirty="0"/>
          </a:p>
        </p:txBody>
      </p:sp>
      <p:sp>
        <p:nvSpPr>
          <p:cNvPr id="10" name="Text 7"/>
          <p:cNvSpPr/>
          <p:nvPr/>
        </p:nvSpPr>
        <p:spPr>
          <a:xfrm>
            <a:off x="7406640" y="23774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transaksi dalam dataset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178040" y="3081528"/>
            <a:ext cx="4480560" cy="1298448"/>
          </a:xfrm>
          <a:prstGeom prst="roundRect">
            <a:avLst>
              <a:gd name="adj" fmla="val 5634"/>
            </a:avLst>
          </a:prstGeom>
          <a:solidFill>
            <a:srgbClr val="132043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B1530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7406640" y="3191256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7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0,17%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7406640" y="3858768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Proporsi transaksi fraud (sangat imbalanced)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178040" y="4562856"/>
            <a:ext cx="4480560" cy="1298448"/>
          </a:xfrm>
          <a:prstGeom prst="roundRect">
            <a:avLst>
              <a:gd name="adj" fmla="val 5634"/>
            </a:avLst>
          </a:prstGeom>
          <a:solidFill>
            <a:srgbClr val="132043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B1530">
                <a:alpha val="18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7406640" y="4672584"/>
            <a:ext cx="4023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D7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hari</a:t>
            </a:r>
            <a:endParaRPr lang="en-US" sz="3000" dirty="0"/>
          </a:p>
        </p:txBody>
      </p:sp>
      <p:sp>
        <p:nvSpPr>
          <p:cNvPr id="16" name="Text 13"/>
          <p:cNvSpPr/>
          <p:nvPr/>
        </p:nvSpPr>
        <p:spPr>
          <a:xfrm>
            <a:off x="7406640" y="5340096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Rentang waktu transaksi (Sept 2013, Eropa)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Deteksi Anomali Transaksi Kartu Kredit — Isolation Forest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1 · PENDAHULUAN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0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Rumusan Masalah &amp; Tujuan Penelitian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54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Rumusan Masalah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1965960"/>
            <a:ext cx="566928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Bagaimana tahapan implementasi Isolation Forest pada dataset transaksi kartu kredit?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Sejauh mana efektivitas Isolation Forest mendeteksi transaksi anomali (fraud)?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Bagaimana performa model diukur melalui confusion matrix &amp; metrik evaluasi?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537960" y="15544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Tujuan Penelitian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537960" y="1965960"/>
            <a:ext cx="51206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Membangun &amp; mengimplementasikan model Isolation Forest.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Mengidentifikasi &amp; memisahkan transaksi fraud dari transaksi normal.</a:t>
            </a:r>
            <a:endParaRPr lang="en-US" sz="13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Mengevaluasi performa model dengan metrik yang sesuai data imbalanced.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4343400"/>
            <a:ext cx="11109960" cy="1691640"/>
          </a:xfrm>
          <a:prstGeom prst="roundRect">
            <a:avLst>
              <a:gd name="adj" fmla="val 4324"/>
            </a:avLst>
          </a:prstGeom>
          <a:solidFill>
            <a:srgbClr val="132043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B1530">
                <a:alpha val="18000"/>
              </a:srgbClr>
            </a:outerShdw>
          </a:effectLst>
        </p:spPr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709160"/>
            <a:ext cx="548640" cy="5486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91640" y="4572000"/>
            <a:ext cx="96926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Manfaat Penelitian</a:t>
            </a:r>
            <a:endParaRPr lang="en-US" sz="12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Akademik — memperkaya literatur unsupervised learning untuk deteksi anomali. 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Peneliti — memperdalam pemahaman mekanisme Isolation Forest &amp; prapemrosesan data imbalanced.  </a:t>
            </a:r>
            <a:pPr indent="0" marL="0">
              <a:lnSpc>
                <a:spcPct val="12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 — referensi penerapan sistem deteksi fraud otomatis berbasis Machine Learning.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Deteksi Anomali Transaksi Kartu Kredit — Isolation Forest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1 · PENDAHULUAN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0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Batasan Masalah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130552" cy="4023360"/>
          </a:xfrm>
          <a:prstGeom prst="roundRect">
            <a:avLst>
              <a:gd name="adj" fmla="val 3433"/>
            </a:avLst>
          </a:prstGeom>
          <a:solidFill>
            <a:srgbClr val="F5F7FB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B153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115568" y="1965960"/>
            <a:ext cx="685800" cy="685800"/>
          </a:xfrm>
          <a:prstGeom prst="ellipse">
            <a:avLst/>
          </a:prstGeom>
          <a:solidFill>
            <a:srgbClr val="13204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5588" y="2116836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880360"/>
            <a:ext cx="185623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2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publik</a:t>
            </a:r>
            <a:endParaRPr lang="en-US" sz="1250" dirty="0"/>
          </a:p>
        </p:txBody>
      </p:sp>
      <p:sp>
        <p:nvSpPr>
          <p:cNvPr id="8" name="Text 5"/>
          <p:cNvSpPr/>
          <p:nvPr/>
        </p:nvSpPr>
        <p:spPr>
          <a:xfrm>
            <a:off x="713232" y="3566160"/>
            <a:ext cx="180136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 Card Fraud Detection dari platform Kaggle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843784" y="1691640"/>
            <a:ext cx="2130552" cy="4023360"/>
          </a:xfrm>
          <a:prstGeom prst="roundRect">
            <a:avLst>
              <a:gd name="adj" fmla="val 3433"/>
            </a:avLst>
          </a:prstGeom>
          <a:solidFill>
            <a:srgbClr val="F5F7FB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B153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10712" y="1965960"/>
            <a:ext cx="685800" cy="685800"/>
          </a:xfrm>
          <a:prstGeom prst="ellipse">
            <a:avLst/>
          </a:prstGeom>
          <a:solidFill>
            <a:srgbClr val="13204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0732" y="2116836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80944" y="2880360"/>
            <a:ext cx="185623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2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Algoritma tunggal</a:t>
            </a:r>
            <a:endParaRPr lang="en-US" sz="1250" dirty="0"/>
          </a:p>
        </p:txBody>
      </p:sp>
      <p:sp>
        <p:nvSpPr>
          <p:cNvPr id="13" name="Text 9"/>
          <p:cNvSpPr/>
          <p:nvPr/>
        </p:nvSpPr>
        <p:spPr>
          <a:xfrm>
            <a:off x="3008376" y="3566160"/>
            <a:ext cx="180136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Dibatasi hanya pada metode Isolation Forest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5138928" y="1691640"/>
            <a:ext cx="2130552" cy="4023360"/>
          </a:xfrm>
          <a:prstGeom prst="roundRect">
            <a:avLst>
              <a:gd name="adj" fmla="val 3433"/>
            </a:avLst>
          </a:prstGeom>
          <a:solidFill>
            <a:srgbClr val="F5F7FB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B153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5705856" y="1965960"/>
            <a:ext cx="685800" cy="685800"/>
          </a:xfrm>
          <a:prstGeom prst="ellipse">
            <a:avLst/>
          </a:prstGeom>
          <a:solidFill>
            <a:srgbClr val="13204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65876" y="2116836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276088" y="2880360"/>
            <a:ext cx="185623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2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Bahasa pemrograman</a:t>
            </a:r>
            <a:endParaRPr lang="en-US" sz="1250" dirty="0"/>
          </a:p>
        </p:txBody>
      </p:sp>
      <p:sp>
        <p:nvSpPr>
          <p:cNvPr id="18" name="Text 13"/>
          <p:cNvSpPr/>
          <p:nvPr/>
        </p:nvSpPr>
        <p:spPr>
          <a:xfrm>
            <a:off x="5303520" y="3566160"/>
            <a:ext cx="180136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Seluruh proses menggunakan Python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7434072" y="1691640"/>
            <a:ext cx="2130552" cy="4023360"/>
          </a:xfrm>
          <a:prstGeom prst="roundRect">
            <a:avLst>
              <a:gd name="adj" fmla="val 3433"/>
            </a:avLst>
          </a:prstGeom>
          <a:solidFill>
            <a:srgbClr val="F5F7FB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B1530">
                <a:alpha val="18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8001000" y="1965960"/>
            <a:ext cx="685800" cy="685800"/>
          </a:xfrm>
          <a:prstGeom prst="ellipse">
            <a:avLst/>
          </a:prstGeom>
          <a:solidFill>
            <a:srgbClr val="132043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1020" y="2116836"/>
            <a:ext cx="384048" cy="384048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71232" y="2880360"/>
            <a:ext cx="185623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2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Atribut numerik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7598664" y="3566160"/>
            <a:ext cx="180136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yang diolah terbatas pada fitur numerik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9729216" y="1691640"/>
            <a:ext cx="2130552" cy="4023360"/>
          </a:xfrm>
          <a:prstGeom prst="roundRect">
            <a:avLst>
              <a:gd name="adj" fmla="val 3433"/>
            </a:avLst>
          </a:prstGeom>
          <a:solidFill>
            <a:srgbClr val="F5F7FB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B1530">
                <a:alpha val="18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10296144" y="1965960"/>
            <a:ext cx="685800" cy="685800"/>
          </a:xfrm>
          <a:prstGeom prst="ellipse">
            <a:avLst/>
          </a:prstGeom>
          <a:solidFill>
            <a:srgbClr val="132043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56164" y="2116836"/>
            <a:ext cx="384048" cy="384048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866376" y="2880360"/>
            <a:ext cx="1856232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32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Metrik evaluasi</a:t>
            </a:r>
            <a:endParaRPr lang="en-US" sz="1250" dirty="0"/>
          </a:p>
        </p:txBody>
      </p:sp>
      <p:sp>
        <p:nvSpPr>
          <p:cNvPr id="28" name="Text 21"/>
          <p:cNvSpPr/>
          <p:nvPr/>
        </p:nvSpPr>
        <p:spPr>
          <a:xfrm>
            <a:off x="9893808" y="3566160"/>
            <a:ext cx="180136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Precision, Recall, F1, AUCPR, ROC-AUC</a:t>
            </a:r>
            <a:endParaRPr lang="en-US" sz="1050" dirty="0"/>
          </a:p>
        </p:txBody>
      </p:sp>
      <p:sp>
        <p:nvSpPr>
          <p:cNvPr id="29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Deteksi Anomali Transaksi Kartu Kredit — Isolation Forest</a:t>
            </a:r>
            <a:endParaRPr lang="en-US" sz="900" dirty="0"/>
          </a:p>
        </p:txBody>
      </p:sp>
      <p:sp>
        <p:nvSpPr>
          <p:cNvPr id="30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2 · TINJAUAN PUSTAKA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0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Posisi Penelitian di Antara Studi Terdahulu</a:t>
            </a:r>
            <a:endParaRPr lang="en-US" sz="3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45920"/>
          <a:ext cx="11109960" cy="4206240"/>
        </p:xfrm>
        <a:graphic>
          <a:graphicData uri="http://schemas.openxmlformats.org/drawingml/2006/table">
            <a:tbl>
              <a:tblPr/>
              <a:tblGrid>
                <a:gridCol w="2331720"/>
                <a:gridCol w="4389120"/>
                <a:gridCol w="438912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Penelitian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Kekurangan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Usulan Penelitian Ini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43"/>
                    </a:solidFill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Waspada et al. (2020)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Analisis teoritis metrik saja, tanpa standardisasi/otomatisasi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Menambah StandardScaler + ekstraksi otomatis top features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Zayer et al. (2026)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Reduksi PCA agresif (30→12 fitur), berisiko hilang varians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Pertahankan 29 fitur asli + Data Quality Check ketat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Vandana et al. (2023)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Kode belum terstruktur untuk reproducibility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 Python terstruktur + ekspor output otomatis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9144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Ounacer et al. (2018)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Fokus komparasi lintas algoritma, kurang spesifik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Optimasi end-to-end khusus Isolation Forest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48640" y="6035040"/>
            <a:ext cx="11109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Kebaruan utama: </a:t>
            </a:r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disiplin prapemrosesan data (deduplikasi presisi), 29 fitur numerik dipertahankan penuh, kontaminasi data-driven, dan otomatisasi luaran eksperimen.</a:t>
            </a:r>
            <a:endParaRPr lang="en-US" sz="1100" dirty="0"/>
          </a:p>
        </p:txBody>
      </p:sp>
      <p:sp>
        <p:nvSpPr>
          <p:cNvPr id="6" name="Text 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Deteksi Anomali Transaksi Kartu Kredit — Isolation Forest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2 · LANDASAN TEORI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0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Mekanisme Algoritma Isolation Forest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603504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Isolation Forest </a:t>
            </a:r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(Liu, Ting &amp; Zhou, 2008) mengisolasi anomali secara langsung — bukan memodelkan data normal — dengan membangun pohon biner acak (iTree).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651760"/>
            <a:ext cx="6035040" cy="1005840"/>
          </a:xfrm>
          <a:prstGeom prst="roundRect">
            <a:avLst>
              <a:gd name="adj" fmla="val 7273"/>
            </a:avLst>
          </a:prstGeom>
          <a:solidFill>
            <a:srgbClr val="F5F7FB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B153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49808" y="2852928"/>
            <a:ext cx="594360" cy="594360"/>
          </a:xfrm>
          <a:prstGeom prst="ellipse">
            <a:avLst/>
          </a:prstGeom>
          <a:solidFill>
            <a:srgbClr val="D7263D"/>
          </a:solidFill>
          <a:ln/>
        </p:spPr>
      </p:sp>
      <p:sp>
        <p:nvSpPr>
          <p:cNvPr id="7" name="Text 5"/>
          <p:cNvSpPr/>
          <p:nvPr/>
        </p:nvSpPr>
        <p:spPr>
          <a:xfrm>
            <a:off x="749808" y="285292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508760" y="276148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Partisi Acak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508760" y="310896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 &amp; titik potong dipilih acak pada tiap simpul pohon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3840480"/>
            <a:ext cx="6035040" cy="1005840"/>
          </a:xfrm>
          <a:prstGeom prst="roundRect">
            <a:avLst>
              <a:gd name="adj" fmla="val 7273"/>
            </a:avLst>
          </a:prstGeom>
          <a:solidFill>
            <a:srgbClr val="F5F7FB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B153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49808" y="4041648"/>
            <a:ext cx="594360" cy="594360"/>
          </a:xfrm>
          <a:prstGeom prst="ellipse">
            <a:avLst/>
          </a:prstGeom>
          <a:solidFill>
            <a:srgbClr val="D7263D"/>
          </a:solidFill>
          <a:ln/>
        </p:spPr>
      </p:sp>
      <p:sp>
        <p:nvSpPr>
          <p:cNvPr id="12" name="Text 10"/>
          <p:cNvSpPr/>
          <p:nvPr/>
        </p:nvSpPr>
        <p:spPr>
          <a:xfrm>
            <a:off x="749808" y="404164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508760" y="395020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Isolasi Cepat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508760" y="429768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anomali terisolasi dengan lebih sedikit partisi (path length pendek)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5029200"/>
            <a:ext cx="6035040" cy="1005840"/>
          </a:xfrm>
          <a:prstGeom prst="roundRect">
            <a:avLst>
              <a:gd name="adj" fmla="val 7273"/>
            </a:avLst>
          </a:prstGeom>
          <a:solidFill>
            <a:srgbClr val="F5F7FB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B153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749808" y="5230368"/>
            <a:ext cx="594360" cy="594360"/>
          </a:xfrm>
          <a:prstGeom prst="ellipse">
            <a:avLst/>
          </a:prstGeom>
          <a:solidFill>
            <a:srgbClr val="D7263D"/>
          </a:solidFill>
          <a:ln/>
        </p:spPr>
      </p:sp>
      <p:sp>
        <p:nvSpPr>
          <p:cNvPr id="17" name="Text 15"/>
          <p:cNvSpPr/>
          <p:nvPr/>
        </p:nvSpPr>
        <p:spPr>
          <a:xfrm>
            <a:off x="749808" y="5230368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1508760" y="5138928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Skor Anomali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508760" y="5486400"/>
            <a:ext cx="4937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s(x,n) = 2^(-E[h(x)]/c(n)) — skor mendekati 1 = anomali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949440" y="1600200"/>
            <a:ext cx="4709160" cy="4434840"/>
          </a:xfrm>
          <a:prstGeom prst="roundRect">
            <a:avLst>
              <a:gd name="adj" fmla="val 1649"/>
            </a:avLst>
          </a:prstGeom>
          <a:solidFill>
            <a:srgbClr val="132043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B1530">
                <a:alpha val="18000"/>
              </a:srgbClr>
            </a:outerShdw>
          </a:effectLst>
        </p:spPr>
      </p:sp>
      <p:pic>
        <p:nvPicPr>
          <p:cNvPr id="2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69480" y="1874520"/>
            <a:ext cx="502920" cy="50292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7909560" y="19202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Sifat Dasar Anomali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7269480" y="2606040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Few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jumlah instans anomali sangat sedikit dibanding data normal.</a:t>
            </a:r>
            <a:endParaRPr lang="en-US" sz="1200" dirty="0"/>
          </a:p>
        </p:txBody>
      </p:sp>
      <p:sp>
        <p:nvSpPr>
          <p:cNvPr id="24" name="Text 21"/>
          <p:cNvSpPr/>
          <p:nvPr/>
        </p:nvSpPr>
        <p:spPr>
          <a:xfrm>
            <a:off x="7269480" y="3154680"/>
            <a:ext cx="4160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</a:t>
            </a:r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atribut anomali sangat berbeda dari data normal.</a:t>
            </a:r>
            <a:endParaRPr lang="en-US" sz="1200" dirty="0"/>
          </a:p>
        </p:txBody>
      </p:sp>
      <p:sp>
        <p:nvSpPr>
          <p:cNvPr id="25" name="Shape 22"/>
          <p:cNvSpPr/>
          <p:nvPr/>
        </p:nvSpPr>
        <p:spPr>
          <a:xfrm>
            <a:off x="7269480" y="3886200"/>
            <a:ext cx="4023360" cy="0"/>
          </a:xfrm>
          <a:prstGeom prst="line">
            <a:avLst/>
          </a:prstGeom>
          <a:noFill/>
          <a:ln w="12700">
            <a:solidFill>
              <a:srgbClr val="39508C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269480" y="402336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Fungsi Panjang Jalur</a:t>
            </a:r>
            <a:endParaRPr lang="en-US" sz="1200" dirty="0"/>
          </a:p>
        </p:txBody>
      </p:sp>
      <p:sp>
        <p:nvSpPr>
          <p:cNvPr id="27" name="Text 24"/>
          <p:cNvSpPr/>
          <p:nvPr/>
        </p:nvSpPr>
        <p:spPr>
          <a:xfrm>
            <a:off x="7269480" y="43434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c(n) = 2·ln(n−1) + 0.5772 − 2(n−1)/n</a:t>
            </a:r>
            <a:endParaRPr lang="en-US" sz="1200" dirty="0"/>
          </a:p>
        </p:txBody>
      </p:sp>
      <p:sp>
        <p:nvSpPr>
          <p:cNvPr id="28" name="Text 25"/>
          <p:cNvSpPr/>
          <p:nvPr/>
        </p:nvSpPr>
        <p:spPr>
          <a:xfrm>
            <a:off x="7269480" y="484632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Skor Anomali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7269480" y="51663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D726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s(x,n) = 2^( −E[h(x)] / c(n) )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7269480" y="55778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 → 1: anomali kuat   |   s ≈ 0,5: data normal</a:t>
            </a:r>
            <a:endParaRPr lang="en-US" sz="1000" dirty="0"/>
          </a:p>
        </p:txBody>
      </p:sp>
      <p:sp>
        <p:nvSpPr>
          <p:cNvPr id="31" name="Text 2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Deteksi Anomali Transaksi Kartu Kredit — Isolation Forest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3 · METODOLOGI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0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Kerangka Berpikir Penelitian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45920"/>
            <a:ext cx="3520440" cy="4297680"/>
          </a:xfrm>
          <a:prstGeom prst="roundRect">
            <a:avLst>
              <a:gd name="adj" fmla="val 2078"/>
            </a:avLst>
          </a:prstGeom>
          <a:solidFill>
            <a:srgbClr val="F5F7FB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B153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43100" y="1874520"/>
            <a:ext cx="731520" cy="731520"/>
          </a:xfrm>
          <a:prstGeom prst="ellipse">
            <a:avLst/>
          </a:prstGeom>
          <a:solidFill>
            <a:srgbClr val="13204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107692" y="203911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2697480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132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822960" y="3246120"/>
            <a:ext cx="297180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Kaggle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284.807 transaksi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atribut (V1–V28, Time, Amount, Class)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096512" y="3611880"/>
            <a:ext cx="237744" cy="237744"/>
          </a:xfrm>
          <a:prstGeom prst="ellipse">
            <a:avLst/>
          </a:prstGeom>
          <a:solidFill>
            <a:srgbClr val="D7263D"/>
          </a:solidFill>
          <a:ln/>
        </p:spPr>
      </p:sp>
      <p:sp>
        <p:nvSpPr>
          <p:cNvPr id="10" name="Shape 7"/>
          <p:cNvSpPr/>
          <p:nvPr/>
        </p:nvSpPr>
        <p:spPr>
          <a:xfrm>
            <a:off x="4361688" y="1645920"/>
            <a:ext cx="3520440" cy="4297680"/>
          </a:xfrm>
          <a:prstGeom prst="roundRect">
            <a:avLst>
              <a:gd name="adj" fmla="val 2078"/>
            </a:avLst>
          </a:prstGeom>
          <a:solidFill>
            <a:srgbClr val="132043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B1530">
                <a:alpha val="18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5756148" y="1874520"/>
            <a:ext cx="731520" cy="731520"/>
          </a:xfrm>
          <a:prstGeom prst="ellipse">
            <a:avLst/>
          </a:prstGeom>
          <a:solidFill>
            <a:srgbClr val="D7263D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20740" y="2039112"/>
            <a:ext cx="402336" cy="40233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361688" y="2697480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PROSES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636008" y="3246120"/>
            <a:ext cx="297180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Check &amp; EDA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 (dedup)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Standardization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Pelatihan Isolation Forest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Evaluasi Model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7909560" y="3611880"/>
            <a:ext cx="237744" cy="237744"/>
          </a:xfrm>
          <a:prstGeom prst="ellipse">
            <a:avLst/>
          </a:prstGeom>
          <a:solidFill>
            <a:srgbClr val="D7263D"/>
          </a:solidFill>
          <a:ln/>
        </p:spPr>
      </p:sp>
      <p:sp>
        <p:nvSpPr>
          <p:cNvPr id="16" name="Shape 12"/>
          <p:cNvSpPr/>
          <p:nvPr/>
        </p:nvSpPr>
        <p:spPr>
          <a:xfrm>
            <a:off x="8174736" y="1645920"/>
            <a:ext cx="3520440" cy="4297680"/>
          </a:xfrm>
          <a:prstGeom prst="roundRect">
            <a:avLst>
              <a:gd name="adj" fmla="val 2078"/>
            </a:avLst>
          </a:prstGeom>
          <a:solidFill>
            <a:srgbClr val="F5F7FB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B1530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569196" y="1874520"/>
            <a:ext cx="731520" cy="731520"/>
          </a:xfrm>
          <a:prstGeom prst="ellipse">
            <a:avLst/>
          </a:prstGeom>
          <a:solidFill>
            <a:srgbClr val="132043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33788" y="2039112"/>
            <a:ext cx="402336" cy="40233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8174736" y="2697480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132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8449056" y="3246120"/>
            <a:ext cx="2971800" cy="2606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deteksi anomali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score per transaksi</a:t>
            </a:r>
            <a:endParaRPr lang="en-US" sz="11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&amp; metrik evaluasi</a:t>
            </a:r>
            <a:endParaRPr lang="en-US" sz="1100" dirty="0"/>
          </a:p>
        </p:txBody>
      </p:sp>
      <p:sp>
        <p:nvSpPr>
          <p:cNvPr id="21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Deteksi Anomali Transaksi Kartu Kredit — Isolation Forest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3 · METODOLOGI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0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Dataset: Credit Card Fraud Detection (Kaggle)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57276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creditcard.csv — rekam transaksi kartu kredit nasabah Eropa selama 2 hari, September 2013.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132043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B153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48640" y="2212848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7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284.807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685800" y="281635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baris transaksi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429000" y="210312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132043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B153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429000" y="2212848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7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31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566160" y="281635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Kolom atribut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6309360" y="210312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132043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B153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309360" y="2212848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7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492</a:t>
            </a:r>
            <a:endParaRPr lang="en-US" sz="2600" dirty="0"/>
          </a:p>
        </p:txBody>
      </p:sp>
      <p:sp>
        <p:nvSpPr>
          <p:cNvPr id="13" name="Text 11"/>
          <p:cNvSpPr/>
          <p:nvPr/>
        </p:nvSpPr>
        <p:spPr>
          <a:xfrm>
            <a:off x="6446520" y="281635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Transaksi fraud (0,17%)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9189720" y="2103120"/>
            <a:ext cx="2697480" cy="1234440"/>
          </a:xfrm>
          <a:prstGeom prst="roundRect">
            <a:avLst>
              <a:gd name="adj" fmla="val 5926"/>
            </a:avLst>
          </a:prstGeom>
          <a:solidFill>
            <a:srgbClr val="132043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B153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9189720" y="2212848"/>
            <a:ext cx="2697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7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9326880" y="2816352"/>
            <a:ext cx="2423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 hasil PCA (V1–V28)</a:t>
            </a:r>
            <a:endParaRPr lang="en-US" sz="10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566160"/>
          <a:ext cx="7589520" cy="2286000"/>
        </p:xfrm>
        <a:graphic>
          <a:graphicData uri="http://schemas.openxmlformats.org/drawingml/2006/table">
            <a:tbl>
              <a:tblPr/>
              <a:tblGrid>
                <a:gridCol w="1463040"/>
                <a:gridCol w="1188720"/>
                <a:gridCol w="493776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Atribut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4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Keterangan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04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float64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Detik sejak transaksi pertama (0 – 172.792)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V1 – V28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float64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28 fitur hasil transformasi PCA (anonimisasi)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float64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Nominal transaksi (0 – 25.691,16)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int64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Ground truth: 0 = normal, 1 = fraud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8366760" y="3566160"/>
            <a:ext cx="3291840" cy="2286000"/>
          </a:xfrm>
          <a:prstGeom prst="roundRect">
            <a:avLst>
              <a:gd name="adj" fmla="val 3200"/>
            </a:avLst>
          </a:prstGeom>
          <a:solidFill>
            <a:srgbClr val="CADC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B1530">
                <a:alpha val="18000"/>
              </a:srgbClr>
            </a:outerShdw>
          </a:effectLst>
        </p:spPr>
      </p:sp>
      <p:pic>
        <p:nvPicPr>
          <p:cNvPr id="1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95360" y="3767328"/>
            <a:ext cx="457200" cy="45720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8595360" y="4343400"/>
            <a:ext cx="288036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32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Ekstrem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32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Fraud hanya 0,17% dari populasi — algoritma klasifikasi konvensional rawan bias ke kelas mayoritas.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Deteksi Anomali Transaksi Kartu Kredit — Isolation Forest</a:t>
            </a:r>
            <a:endParaRPr lang="en-US" sz="900" dirty="0"/>
          </a:p>
        </p:txBody>
      </p:sp>
      <p:sp>
        <p:nvSpPr>
          <p:cNvPr id="22" name="Text 1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3–4 · METODOLOGI &amp; IMPLEMENTASI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0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Tahapan Prapemrosesan Data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109960" cy="713232"/>
          </a:xfrm>
          <a:prstGeom prst="roundRect">
            <a:avLst>
              <a:gd name="adj" fmla="val 10256"/>
            </a:avLst>
          </a:prstGeom>
          <a:solidFill>
            <a:srgbClr val="F5F7FB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B153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1792224"/>
            <a:ext cx="512064" cy="512064"/>
          </a:xfrm>
          <a:prstGeom prst="ellipse">
            <a:avLst/>
          </a:prstGeom>
          <a:solidFill>
            <a:srgbClr val="13204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92224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1746504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Check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983480" y="1746504"/>
            <a:ext cx="6492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missing values · 1.081 baris duplikat terdeteksi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532888"/>
            <a:ext cx="11109960" cy="713232"/>
          </a:xfrm>
          <a:prstGeom prst="roundRect">
            <a:avLst>
              <a:gd name="adj" fmla="val 10256"/>
            </a:avLst>
          </a:prstGeom>
          <a:solidFill>
            <a:srgbClr val="F5F7FB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B153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777240" y="2633472"/>
            <a:ext cx="512064" cy="512064"/>
          </a:xfrm>
          <a:prstGeom prst="ellipse">
            <a:avLst/>
          </a:prstGeom>
          <a:solidFill>
            <a:srgbClr val="132043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633472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508760" y="2587752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Cleaning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983480" y="2587752"/>
            <a:ext cx="6492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Deduplikasi → 284.807 menjadi 283.726 baris bersih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48640" y="3374136"/>
            <a:ext cx="11109960" cy="713232"/>
          </a:xfrm>
          <a:prstGeom prst="roundRect">
            <a:avLst>
              <a:gd name="adj" fmla="val 10256"/>
            </a:avLst>
          </a:prstGeom>
          <a:solidFill>
            <a:srgbClr val="F5F7FB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B153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77240" y="3474720"/>
            <a:ext cx="512064" cy="512064"/>
          </a:xfrm>
          <a:prstGeom prst="ellipse">
            <a:avLst/>
          </a:prstGeom>
          <a:solidFill>
            <a:srgbClr val="132043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47472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508760" y="342900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Selection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83480" y="3429000"/>
            <a:ext cx="6492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Eksklusi Time &amp; Class → 29 fitur numerik murni (V1–V28 + Amount)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48640" y="4215384"/>
            <a:ext cx="11109960" cy="713232"/>
          </a:xfrm>
          <a:prstGeom prst="roundRect">
            <a:avLst>
              <a:gd name="adj" fmla="val 10256"/>
            </a:avLst>
          </a:prstGeom>
          <a:solidFill>
            <a:srgbClr val="F5F7FB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B153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77240" y="4315968"/>
            <a:ext cx="512064" cy="512064"/>
          </a:xfrm>
          <a:prstGeom prst="ellipse">
            <a:avLst/>
          </a:prstGeom>
          <a:solidFill>
            <a:srgbClr val="132043"/>
          </a:solidFill>
          <a:ln/>
        </p:spPr>
      </p:sp>
      <p:sp>
        <p:nvSpPr>
          <p:cNvPr id="21" name="Text 19"/>
          <p:cNvSpPr/>
          <p:nvPr/>
        </p:nvSpPr>
        <p:spPr>
          <a:xfrm>
            <a:off x="777240" y="4315968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508760" y="4270248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83480" y="4270248"/>
            <a:ext cx="6492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Z-score via StandardScaler → mean ≈ 0, std ≈ 1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548640" y="5056632"/>
            <a:ext cx="11109960" cy="713232"/>
          </a:xfrm>
          <a:prstGeom prst="roundRect">
            <a:avLst>
              <a:gd name="adj" fmla="val 10256"/>
            </a:avLst>
          </a:prstGeom>
          <a:solidFill>
            <a:srgbClr val="F5F7FB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B153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777240" y="5157216"/>
            <a:ext cx="512064" cy="512064"/>
          </a:xfrm>
          <a:prstGeom prst="ellipse">
            <a:avLst/>
          </a:prstGeom>
          <a:solidFill>
            <a:srgbClr val="132043"/>
          </a:solidFill>
          <a:ln/>
        </p:spPr>
      </p:sp>
      <p:sp>
        <p:nvSpPr>
          <p:cNvPr id="26" name="Text 24"/>
          <p:cNvSpPr/>
          <p:nvPr/>
        </p:nvSpPr>
        <p:spPr>
          <a:xfrm>
            <a:off x="777240" y="5157216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1508760" y="5111496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Matriks Fitur Bersih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983480" y="5111496"/>
            <a:ext cx="6492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X_scaled: 283.726 baris × 29 kolom, siap dilatih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Deteksi Anomali Transaksi Kartu Kredit — Isolation Forest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3 · KEBAHARUAN PENELITIAN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0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Tiga Dimensi Kontribusi Penelitian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66160" cy="4251960"/>
          </a:xfrm>
          <a:prstGeom prst="roundRect">
            <a:avLst>
              <a:gd name="adj" fmla="val 2051"/>
            </a:avLst>
          </a:prstGeom>
          <a:solidFill>
            <a:srgbClr val="F5F7FB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B153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65960"/>
            <a:ext cx="685800" cy="685800"/>
          </a:xfrm>
          <a:prstGeom prst="ellipse">
            <a:avLst/>
          </a:prstGeom>
          <a:solidFill>
            <a:srgbClr val="132043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92124" y="2135124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8346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Pengolahan Data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822960" y="3337560"/>
            <a:ext cx="30175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Quality Check wajib; eliminasi 1.081 duplikat; mempertahankan 29 fitur asli (tanpa reduksi PCA agresif)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4315968" y="1691640"/>
            <a:ext cx="3566160" cy="4251960"/>
          </a:xfrm>
          <a:prstGeom prst="roundRect">
            <a:avLst>
              <a:gd name="adj" fmla="val 2051"/>
            </a:avLst>
          </a:prstGeom>
          <a:solidFill>
            <a:srgbClr val="F5F7FB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B153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90288" y="1965960"/>
            <a:ext cx="685800" cy="685800"/>
          </a:xfrm>
          <a:prstGeom prst="ellipse">
            <a:avLst/>
          </a:prstGeom>
          <a:solidFill>
            <a:srgbClr val="132043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9452" y="2135124"/>
            <a:ext cx="384048" cy="384048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90288" y="28346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Konfigurasi Model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4590288" y="3337560"/>
            <a:ext cx="30175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contamination dihitung data-driven dari ground truth (≈0,0017); n_estimators=200; random_state tetap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8083296" y="1691640"/>
            <a:ext cx="3566160" cy="4251960"/>
          </a:xfrm>
          <a:prstGeom prst="roundRect">
            <a:avLst>
              <a:gd name="adj" fmla="val 2051"/>
            </a:avLst>
          </a:prstGeom>
          <a:solidFill>
            <a:srgbClr val="F5F7FB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B153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357616" y="1965960"/>
            <a:ext cx="685800" cy="685800"/>
          </a:xfrm>
          <a:prstGeom prst="ellipse">
            <a:avLst/>
          </a:prstGeom>
          <a:solidFill>
            <a:srgbClr val="132043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26780" y="2135124"/>
            <a:ext cx="384048" cy="38404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357616" y="283464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Otomatisasi Luaran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8357616" y="3337560"/>
            <a:ext cx="3017520" cy="2468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Model, visualisasi, dan laporan performa tersimpan otomatis ke direktori terstruktur untuk reproducibility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Deteksi Anomali Transaksi Kartu Kredit — Isolation Forest</a:t>
            </a:r>
            <a:endParaRPr lang="en-US" sz="900" dirty="0"/>
          </a:p>
        </p:txBody>
      </p:sp>
      <p:sp>
        <p:nvSpPr>
          <p:cNvPr id="20" name="Text 1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4 · IMPLEMENTASI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0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Konfigurasi &amp; Pelatihan Model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309360" cy="4251960"/>
          </a:xfrm>
          <a:prstGeom prst="roundRect">
            <a:avLst>
              <a:gd name="adj" fmla="val 1720"/>
            </a:avLst>
          </a:prstGeom>
          <a:solidFill>
            <a:srgbClr val="132043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B153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22960" y="1874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ADCF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iso_forest.py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822960" y="2286000"/>
            <a:ext cx="5760720" cy="3520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contamination_rate = (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df["Class"].sum() / len(df)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contamination_rate ≈ 0.001667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iso_forest = IsolationForest(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n_estimators=200,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contamination=contamination_rate,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random_state=42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iso_forest.fit(X_scaled)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y_pred = iso_forest.predict(X_scaled)</a:t>
            </a:r>
            <a:endParaRPr lang="en-US" sz="125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D6E4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scores = iso_forest.decision_function(X_scaled)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7086600" y="1691640"/>
            <a:ext cx="4572000" cy="1325880"/>
          </a:xfrm>
          <a:prstGeom prst="roundRect">
            <a:avLst>
              <a:gd name="adj" fmla="val 5517"/>
            </a:avLst>
          </a:prstGeom>
          <a:solidFill>
            <a:srgbClr val="F5F7FB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B153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315200" y="1801368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726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n_estimators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315200" y="210312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0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315200" y="2532888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2× default scikit-learn — stabilkan estimasi skor pada data besar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7086600" y="3182112"/>
            <a:ext cx="4572000" cy="1325880"/>
          </a:xfrm>
          <a:prstGeom prst="roundRect">
            <a:avLst>
              <a:gd name="adj" fmla="val 5517"/>
            </a:avLst>
          </a:prstGeom>
          <a:solidFill>
            <a:srgbClr val="F5F7FB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B153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315200" y="329184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726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contamination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315200" y="359359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0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0,001667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7315200" y="4023360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Dihitung otomatis dari ground truth (data-driven)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7086600" y="4672584"/>
            <a:ext cx="4572000" cy="1325880"/>
          </a:xfrm>
          <a:prstGeom prst="roundRect">
            <a:avLst>
              <a:gd name="adj" fmla="val 5517"/>
            </a:avLst>
          </a:prstGeom>
          <a:solidFill>
            <a:srgbClr val="F5F7FB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B153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7315200" y="478231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D7263D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random_state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7315200" y="5084064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320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7315200" y="5513832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Menjamin hasil deterministik &amp; reproducible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Deteksi Anomali Transaksi Kartu Kredit — Isolation Forest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4 · HASIL &amp; ANALISIS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0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Confusion Matrix Hasil Evaluasi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777240" y="150876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Aktual \ Prediksi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822960" y="15087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32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Diprediksi Normal (0)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3364992" y="150876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132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Diprediksi Fraud (1)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822960" y="2011680"/>
            <a:ext cx="2468880" cy="1417320"/>
          </a:xfrm>
          <a:prstGeom prst="roundRect">
            <a:avLst>
              <a:gd name="adj" fmla="val 3871"/>
            </a:avLst>
          </a:prstGeom>
          <a:solidFill>
            <a:srgbClr val="F5F7FB"/>
          </a:solidFill>
          <a:ln/>
          <a:effectLst>
            <a:outerShdw sx="100000" sy="100000" kx="0" ky="0" algn="bl" rotWithShape="0" blurRad="127000" dist="38100" dir="5400000">
              <a:srgbClr val="0B153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822960" y="21488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32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2423160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320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282.887</a:t>
            </a:r>
            <a:endParaRPr lang="en-US" sz="3000" dirty="0"/>
          </a:p>
        </p:txBody>
      </p:sp>
      <p:sp>
        <p:nvSpPr>
          <p:cNvPr id="10" name="Shape 8"/>
          <p:cNvSpPr/>
          <p:nvPr/>
        </p:nvSpPr>
        <p:spPr>
          <a:xfrm>
            <a:off x="3364992" y="2011680"/>
            <a:ext cx="2468880" cy="1417320"/>
          </a:xfrm>
          <a:prstGeom prst="roundRect">
            <a:avLst>
              <a:gd name="adj" fmla="val 3871"/>
            </a:avLst>
          </a:prstGeom>
          <a:solidFill>
            <a:srgbClr val="FBE2E2"/>
          </a:solidFill>
          <a:ln/>
          <a:effectLst>
            <a:outerShdw sx="100000" sy="100000" kx="0" ky="0" algn="bl" rotWithShape="0" blurRad="127000" dist="38100" dir="5400000">
              <a:srgbClr val="0B153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364992" y="21488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364992" y="2423160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7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366</a:t>
            </a:r>
            <a:endParaRPr lang="en-US" sz="3000" dirty="0"/>
          </a:p>
        </p:txBody>
      </p:sp>
      <p:sp>
        <p:nvSpPr>
          <p:cNvPr id="13" name="Shape 11"/>
          <p:cNvSpPr/>
          <p:nvPr/>
        </p:nvSpPr>
        <p:spPr>
          <a:xfrm>
            <a:off x="822960" y="3502152"/>
            <a:ext cx="2468880" cy="1417320"/>
          </a:xfrm>
          <a:prstGeom prst="roundRect">
            <a:avLst>
              <a:gd name="adj" fmla="val 3871"/>
            </a:avLst>
          </a:prstGeom>
          <a:solidFill>
            <a:srgbClr val="FBE2E2"/>
          </a:solidFill>
          <a:ln/>
          <a:effectLst>
            <a:outerShdw sx="100000" sy="100000" kx="0" ky="0" algn="bl" rotWithShape="0" blurRad="127000" dist="38100" dir="5400000">
              <a:srgbClr val="0B153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822960" y="363931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3913632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D7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366</a:t>
            </a:r>
            <a:endParaRPr lang="en-US" sz="3000" dirty="0"/>
          </a:p>
        </p:txBody>
      </p:sp>
      <p:sp>
        <p:nvSpPr>
          <p:cNvPr id="16" name="Shape 14"/>
          <p:cNvSpPr/>
          <p:nvPr/>
        </p:nvSpPr>
        <p:spPr>
          <a:xfrm>
            <a:off x="3364992" y="3502152"/>
            <a:ext cx="2468880" cy="1417320"/>
          </a:xfrm>
          <a:prstGeom prst="roundRect">
            <a:avLst>
              <a:gd name="adj" fmla="val 3871"/>
            </a:avLst>
          </a:prstGeom>
          <a:solidFill>
            <a:srgbClr val="132043"/>
          </a:solidFill>
          <a:ln/>
          <a:effectLst>
            <a:outerShdw sx="100000" sy="100000" kx="0" ky="0" algn="bl" rotWithShape="0" blurRad="127000" dist="38100" dir="5400000">
              <a:srgbClr val="0B153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364992" y="3639312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3364992" y="3913632"/>
            <a:ext cx="2468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107</a:t>
            </a:r>
            <a:endParaRPr lang="en-US" sz="3000" dirty="0"/>
          </a:p>
        </p:txBody>
      </p:sp>
      <p:sp>
        <p:nvSpPr>
          <p:cNvPr id="19" name="Shape 17"/>
          <p:cNvSpPr/>
          <p:nvPr/>
        </p:nvSpPr>
        <p:spPr>
          <a:xfrm>
            <a:off x="548640" y="5074920"/>
            <a:ext cx="5212080" cy="960120"/>
          </a:xfrm>
          <a:prstGeom prst="roundRect">
            <a:avLst>
              <a:gd name="adj" fmla="val 7619"/>
            </a:avLst>
          </a:prstGeom>
          <a:solidFill>
            <a:srgbClr val="CADC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B153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777240" y="5166360"/>
            <a:ext cx="47548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32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FN = FP = 366</a:t>
            </a:r>
            <a:pPr indent="0" marL="0">
              <a:buNone/>
            </a:pPr>
            <a:r>
              <a:rPr lang="en-US" sz="1100" dirty="0">
                <a:solidFill>
                  <a:srgbClr val="132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— false alarm sama banyak dengan fraud yang lolos (kondisi simetris).</a:t>
            </a:r>
            <a:endParaRPr lang="en-US" sz="1100" dirty="0"/>
          </a:p>
        </p:txBody>
      </p:sp>
      <p:pic>
        <p:nvPicPr>
          <p:cNvPr id="21" name="Image 0" descr="images/eval_confmatrix_pr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355080" y="1645920"/>
            <a:ext cx="5303520" cy="3977640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6355080" y="56692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Kurva Precision–Recall (AUCPR = 0,1243)</a:t>
            </a:r>
            <a:endParaRPr lang="en-US" sz="1050" dirty="0"/>
          </a:p>
        </p:txBody>
      </p:sp>
      <p:sp>
        <p:nvSpPr>
          <p:cNvPr id="23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Deteksi Anomali Transaksi Kartu Kredit — Isolation Forest</a:t>
            </a:r>
            <a:endParaRPr lang="en-US" sz="900" dirty="0"/>
          </a:p>
        </p:txBody>
      </p:sp>
      <p:sp>
        <p:nvSpPr>
          <p:cNvPr id="24" name="Text 21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4 · HASIL &amp; ANALISIS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0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Metrik Evaluasi Model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773936" cy="1920240"/>
          </a:xfrm>
          <a:prstGeom prst="roundRect">
            <a:avLst>
              <a:gd name="adj" fmla="val 4124"/>
            </a:avLst>
          </a:prstGeom>
          <a:solidFill>
            <a:srgbClr val="F5F7FB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B153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965960"/>
            <a:ext cx="177393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320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99,74%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621792" y="2880360"/>
            <a:ext cx="1627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59736" y="1737360"/>
            <a:ext cx="1773936" cy="1920240"/>
          </a:xfrm>
          <a:prstGeom prst="roundRect">
            <a:avLst>
              <a:gd name="adj" fmla="val 4124"/>
            </a:avLst>
          </a:prstGeom>
          <a:solidFill>
            <a:srgbClr val="132043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B153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59736" y="1965960"/>
            <a:ext cx="177393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7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22,64%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2532888" y="2880360"/>
            <a:ext cx="1627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370832" y="1737360"/>
            <a:ext cx="1773936" cy="1920240"/>
          </a:xfrm>
          <a:prstGeom prst="roundRect">
            <a:avLst>
              <a:gd name="adj" fmla="val 4124"/>
            </a:avLst>
          </a:prstGeom>
          <a:solidFill>
            <a:srgbClr val="132043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B153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370832" y="1965960"/>
            <a:ext cx="177393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7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22,64%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4443984" y="2880360"/>
            <a:ext cx="1627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281928" y="1737360"/>
            <a:ext cx="1773936" cy="1920240"/>
          </a:xfrm>
          <a:prstGeom prst="roundRect">
            <a:avLst>
              <a:gd name="adj" fmla="val 4124"/>
            </a:avLst>
          </a:prstGeom>
          <a:solidFill>
            <a:srgbClr val="132043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B153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281928" y="1965960"/>
            <a:ext cx="177393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7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22,64%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355080" y="2880360"/>
            <a:ext cx="1627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93024" y="1737360"/>
            <a:ext cx="1773936" cy="1920240"/>
          </a:xfrm>
          <a:prstGeom prst="roundRect">
            <a:avLst>
              <a:gd name="adj" fmla="val 4124"/>
            </a:avLst>
          </a:prstGeom>
          <a:solidFill>
            <a:srgbClr val="F5F7FB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B153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8193024" y="1965960"/>
            <a:ext cx="177393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1320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0,9484</a:t>
            </a:r>
            <a:endParaRPr lang="en-US" sz="2400" dirty="0"/>
          </a:p>
        </p:txBody>
      </p:sp>
      <p:sp>
        <p:nvSpPr>
          <p:cNvPr id="18" name="Text 16"/>
          <p:cNvSpPr/>
          <p:nvPr/>
        </p:nvSpPr>
        <p:spPr>
          <a:xfrm>
            <a:off x="8266176" y="2880360"/>
            <a:ext cx="1627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10104120" y="1737360"/>
            <a:ext cx="1773936" cy="1920240"/>
          </a:xfrm>
          <a:prstGeom prst="roundRect">
            <a:avLst>
              <a:gd name="adj" fmla="val 4124"/>
            </a:avLst>
          </a:prstGeom>
          <a:solidFill>
            <a:srgbClr val="132043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B153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0104120" y="1965960"/>
            <a:ext cx="177393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D7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0,1243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10177272" y="2880360"/>
            <a:ext cx="162763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AUCPR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48640" y="3977640"/>
            <a:ext cx="5349240" cy="2057400"/>
          </a:xfrm>
          <a:prstGeom prst="roundRect">
            <a:avLst>
              <a:gd name="adj" fmla="val 3556"/>
            </a:avLst>
          </a:prstGeom>
          <a:solidFill>
            <a:srgbClr val="CADCFC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B1530">
                <a:alpha val="18000"/>
              </a:srgbClr>
            </a:outerShdw>
          </a:effectLst>
        </p:spPr>
      </p:sp>
      <p:pic>
        <p:nvPicPr>
          <p:cNvPr id="2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4187952"/>
            <a:ext cx="384048" cy="384048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1280160" y="4114800"/>
            <a:ext cx="44805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32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Mengapa bukan Accuracy?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32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Akurasi 99,74% menyesatkan pada data imbalanced — model yang menebak “semua normal” pun bisa akurasi &gt;99%. AUCPR dijadikan metrik primer karena lebih jujur menilai deteksi kelas minoritas (fraud).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6080760" y="3977640"/>
            <a:ext cx="5577840" cy="2057400"/>
          </a:xfrm>
          <a:prstGeom prst="roundRect">
            <a:avLst>
              <a:gd name="adj" fmla="val 3556"/>
            </a:avLst>
          </a:prstGeom>
          <a:solidFill>
            <a:srgbClr val="F5F7FB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B1530">
                <a:alpha val="18000"/>
              </a:srgbClr>
            </a:outerShdw>
          </a:effectLst>
        </p:spPr>
      </p:sp>
      <p:pic>
        <p:nvPicPr>
          <p:cNvPr id="2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4187952"/>
            <a:ext cx="384048" cy="384048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6812280" y="4114800"/>
            <a:ext cx="47091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132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Interpretasi Hasil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ROC-AUC 0,9484 menunjukkan kemampuan diskriminasi umum yang baik. Precision = Recall = 22,64% karena FP dan FN kebetulan sama (366), menandakan trade-off belum optimal namun konsisten dengan tantangan unsupervised pada rasio fraud 0,17%.</a:t>
            </a:r>
            <a:endParaRPr lang="en-US" sz="1100" dirty="0"/>
          </a:p>
        </p:txBody>
      </p:sp>
      <p:sp>
        <p:nvSpPr>
          <p:cNvPr id="28" name="Text 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Deteksi Anomali Transaksi Kartu Kredit — Isolation Forest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4 · HASIL &amp; ANALISIS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0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Visualisasi Sebaran Anomali (PCA)</a:t>
            </a:r>
            <a:endParaRPr lang="en-US" sz="3000" dirty="0"/>
          </a:p>
        </p:txBody>
      </p:sp>
      <p:pic>
        <p:nvPicPr>
          <p:cNvPr id="4" name="Image 0" descr="images/pca_scatter2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1691640"/>
            <a:ext cx="6583680" cy="39319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5650992"/>
            <a:ext cx="6583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 Plot PCA 2D — Normal (biru) vs Anomali (merah)</a:t>
            </a:r>
            <a:endParaRPr lang="en-US" sz="1050" dirty="0"/>
          </a:p>
        </p:txBody>
      </p:sp>
      <p:pic>
        <p:nvPicPr>
          <p:cNvPr id="6" name="Image 1" descr="images/anomaly_dis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5612" y="1691640"/>
            <a:ext cx="2368296" cy="1965960"/>
          </a:xfrm>
          <a:prstGeom prst="rect">
            <a:avLst/>
          </a:prstGeom>
        </p:spPr>
      </p:pic>
      <p:pic>
        <p:nvPicPr>
          <p:cNvPr id="7" name="Image 2" descr="images/score_dis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2672" y="3794760"/>
            <a:ext cx="3694176" cy="182880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360920" y="565099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Distribusi label &amp; skor anomali</a:t>
            </a:r>
            <a:endParaRPr lang="en-US" sz="1050" dirty="0"/>
          </a:p>
        </p:txBody>
      </p:sp>
      <p:sp>
        <p:nvSpPr>
          <p:cNvPr id="9" name="Text 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Deteksi Anomali Transaksi Kartu Kredit — Isolation Forest</a:t>
            </a:r>
            <a:endParaRPr lang="en-US" sz="900" dirty="0"/>
          </a:p>
        </p:txBody>
      </p:sp>
      <p:sp>
        <p:nvSpPr>
          <p:cNvPr id="10" name="Text 5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4 · HASIL &amp; ANALISIS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0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Fitur Paling Berpengaruh Terhadap Skor Anomali</a:t>
            </a:r>
            <a:endParaRPr lang="en-US" sz="3000" dirty="0"/>
          </a:p>
        </p:txBody>
      </p:sp>
      <p:pic>
        <p:nvPicPr>
          <p:cNvPr id="4" name="Image 0" descr="images/feature_importance_top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766560" y="1645920"/>
            <a:ext cx="4892040" cy="39776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766560" y="5650992"/>
            <a:ext cx="4892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Korelasi absolut fitur terhadap anomaly score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48640" y="1645920"/>
            <a:ext cx="59436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Dihitung melalui korelasi absolut antara nilai tiap fitur dengan anomaly_score hasil model:</a:t>
            </a:r>
            <a:endParaRPr lang="en-US" sz="1250" dirty="0"/>
          </a:p>
        </p:txBody>
      </p:sp>
      <p:sp>
        <p:nvSpPr>
          <p:cNvPr id="7" name="Shape 4"/>
          <p:cNvSpPr/>
          <p:nvPr/>
        </p:nvSpPr>
        <p:spPr>
          <a:xfrm>
            <a:off x="548640" y="2331720"/>
            <a:ext cx="5943600" cy="640080"/>
          </a:xfrm>
          <a:prstGeom prst="roundRect">
            <a:avLst>
              <a:gd name="adj" fmla="val 11429"/>
            </a:avLst>
          </a:prstGeom>
          <a:solidFill>
            <a:srgbClr val="F5F7FB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B153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77240" y="2331720"/>
            <a:ext cx="5486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3204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importance = |corr(feature, anomaly_score)|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48640" y="3200400"/>
            <a:ext cx="5943600" cy="777240"/>
          </a:xfrm>
          <a:prstGeom prst="roundRect">
            <a:avLst>
              <a:gd name="adj" fmla="val 9412"/>
            </a:avLst>
          </a:prstGeom>
          <a:solidFill>
            <a:srgbClr val="132043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B1530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85800" y="333756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D7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#1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188720" y="32918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1188720" y="358444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 PCA dominan — menangkap varians terbesar pola anomali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48640" y="4114800"/>
            <a:ext cx="5943600" cy="777240"/>
          </a:xfrm>
          <a:prstGeom prst="roundRect">
            <a:avLst>
              <a:gd name="adj" fmla="val 9412"/>
            </a:avLst>
          </a:prstGeom>
          <a:solidFill>
            <a:srgbClr val="F5F7FB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B1530">
                <a:alpha val="1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85800" y="425196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0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#2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1188720" y="42062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Amount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188720" y="449884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Nominal transaksi tidak lazim menjadi indikator kuat fraud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548640" y="5029200"/>
            <a:ext cx="5943600" cy="777240"/>
          </a:xfrm>
          <a:prstGeom prst="roundRect">
            <a:avLst>
              <a:gd name="adj" fmla="val 9412"/>
            </a:avLst>
          </a:prstGeom>
          <a:solidFill>
            <a:srgbClr val="F5F7FB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B1530">
                <a:alpha val="1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85800" y="5166360"/>
            <a:ext cx="457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320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#3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1188720" y="51206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188720" y="5413248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Komponen PCA kedua paling berpengaruh terhadap skor</a:t>
            </a:r>
            <a:endParaRPr lang="en-US" sz="1000" dirty="0"/>
          </a:p>
        </p:txBody>
      </p:sp>
      <p:sp>
        <p:nvSpPr>
          <p:cNvPr id="21" name="Text 18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Deteksi Anomali Transaksi Kartu Kredit — Isolation Forest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4 · HASIL &amp; ANALISIS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0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Temuan Penting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F5F7FB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B153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47672"/>
            <a:ext cx="502920" cy="502920"/>
          </a:xfrm>
          <a:prstGeom prst="ellipse">
            <a:avLst/>
          </a:prstGeom>
          <a:solidFill>
            <a:srgbClr val="D7263D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476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463040" y="192024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= Recall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04672" y="260604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FP dan FN kebetulan sama (366) — model belum optimal mengutamakan salah satu sisi trade-off.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17920" y="169164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F5F7FB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B153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73952" y="1947672"/>
            <a:ext cx="502920" cy="502920"/>
          </a:xfrm>
          <a:prstGeom prst="ellipse">
            <a:avLst/>
          </a:prstGeom>
          <a:solidFill>
            <a:srgbClr val="D7263D"/>
          </a:solidFill>
          <a:ln/>
        </p:spPr>
      </p:sp>
      <p:sp>
        <p:nvSpPr>
          <p:cNvPr id="11" name="Text 9"/>
          <p:cNvSpPr/>
          <p:nvPr/>
        </p:nvSpPr>
        <p:spPr>
          <a:xfrm>
            <a:off x="6473952" y="194767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7132320" y="192024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Kontaminasi Data-Driven Konsisten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473952" y="260604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mendeteksi 473 anomali, sangat mendekati jumlah fraud riil (473 pasca-deduplikasi).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88620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F5F7FB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B153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4142232"/>
            <a:ext cx="502920" cy="502920"/>
          </a:xfrm>
          <a:prstGeom prst="ellipse">
            <a:avLst/>
          </a:prstGeom>
          <a:solidFill>
            <a:srgbClr val="D7263D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41422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1463040" y="411480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AUCPR Rendah = Wajar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4672" y="480060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Pada rasio fraud 0,17%, AUCPR 0,1243 tetap jauh di atas baseline acak (≈0,0017).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17920" y="3886200"/>
            <a:ext cx="5440680" cy="1965960"/>
          </a:xfrm>
          <a:prstGeom prst="roundRect">
            <a:avLst>
              <a:gd name="adj" fmla="val 3721"/>
            </a:avLst>
          </a:prstGeom>
          <a:solidFill>
            <a:srgbClr val="F5F7FB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B153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73952" y="4142232"/>
            <a:ext cx="502920" cy="502920"/>
          </a:xfrm>
          <a:prstGeom prst="ellipse">
            <a:avLst/>
          </a:prstGeom>
          <a:solidFill>
            <a:srgbClr val="D7263D"/>
          </a:solidFill>
          <a:ln/>
        </p:spPr>
      </p:sp>
      <p:sp>
        <p:nvSpPr>
          <p:cNvPr id="21" name="Text 19"/>
          <p:cNvSpPr/>
          <p:nvPr/>
        </p:nvSpPr>
        <p:spPr>
          <a:xfrm>
            <a:off x="6473952" y="41422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132320" y="4114800"/>
            <a:ext cx="4297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32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V1, Amount, V3 Dominan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73952" y="4800600"/>
            <a:ext cx="49377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Fitur PCA &amp; nominal transaksi paling berkontribusi membedakan pola fraud.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Deteksi Anomali Transaksi Kartu Kredit — Isolation Forest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320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5 · PENUTUP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49808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Kesimpulan</a:t>
            </a:r>
            <a:endParaRPr lang="en-US" sz="3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45920"/>
            <a:ext cx="384048" cy="384048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143000" y="1600200"/>
            <a:ext cx="10424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End-to-End Berhasil  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tahap: Data Quality Check → Cleaning → Feature Selection → Scaling → Pelatihan model, menghasilkan 283.726 baris bersih siap latih.</a:t>
            </a:r>
            <a:endParaRPr lang="en-US" sz="125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3154680"/>
            <a:ext cx="384048" cy="38404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43000" y="3108960"/>
            <a:ext cx="10424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Deteksi Tanpa Label Terbukti  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Dari 283.726 transaksi, 473 teridentifikasi anomali (0,17%), 107 di antaranya fraud riil (TP), tanpa membutuhkan label historis saat pelatihan.</a:t>
            </a:r>
            <a:endParaRPr lang="en-US" sz="1250" dirty="0"/>
          </a:p>
        </p:txBody>
      </p:sp>
      <p:pic>
        <p:nvPicPr>
          <p:cNvPr id="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4663440"/>
            <a:ext cx="384048" cy="384048"/>
          </a:xfrm>
          <a:prstGeom prst="rect">
            <a:avLst/>
          </a:prstGeom>
        </p:spPr>
      </p:pic>
      <p:sp>
        <p:nvSpPr>
          <p:cNvPr id="9" name="Text 4"/>
          <p:cNvSpPr/>
          <p:nvPr/>
        </p:nvSpPr>
        <p:spPr>
          <a:xfrm>
            <a:off x="1143000" y="4617720"/>
            <a:ext cx="104241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AUCPR Sebagai Metrik yang Jujur  </a:t>
            </a:r>
            <a:endParaRPr lang="en-US" sz="125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99,74% menyesatkan; AUCPR 0,1243 &amp; ROC-AUC 0,9484 memberi gambaran performa yang lebih representatif pada data imbalanced ekstrem.</a:t>
            </a:r>
            <a:endParaRPr lang="en-US" sz="1250" dirty="0"/>
          </a:p>
        </p:txBody>
      </p:sp>
      <p:sp>
        <p:nvSpPr>
          <p:cNvPr id="10" name="Text 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Deteksi Anomali Transaksi Kartu Kredit — Isolation Forest</a:t>
            </a:r>
            <a:endParaRPr lang="en-US" sz="900" dirty="0"/>
          </a:p>
        </p:txBody>
      </p:sp>
      <p:sp>
        <p:nvSpPr>
          <p:cNvPr id="11" name="Text 6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726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 5 · PENUTUP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320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Saran Penelitian Lanjutan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F5F7FB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B153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856232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7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777240" y="23774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Balancing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77240" y="2807208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Eksplorasi SMOTE / undersampling untuk meningkatkan sensitivitas terhadap kelas fraud.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270248" y="169164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F5F7FB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B153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498848" y="1856232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7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498848" y="23774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Komparasi Algoritma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498848" y="2807208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Bandingkan dengan LOF, One-Class SVM, atau Autoencoder pada skema evaluasi yang sama.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991856" y="169164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F5F7FB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B153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220456" y="1856232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7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220456" y="237744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Optimasi Parameter Sistematis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0456" y="2807208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Terapkan Grid Search / Bayesian Optimization untuk AUCPR optimal.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93192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F5F7FB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B153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777240" y="4096512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7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77240" y="461772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320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Pendekatan Semi-Supervised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" y="5047488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Manfaatkan sebagian label untuk membimbing deteksi &amp; tingkatkan Recall.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270248" y="3931920"/>
            <a:ext cx="3520440" cy="2011680"/>
          </a:xfrm>
          <a:prstGeom prst="roundRect">
            <a:avLst>
              <a:gd name="adj" fmla="val 3636"/>
            </a:avLst>
          </a:prstGeom>
          <a:solidFill>
            <a:srgbClr val="132043"/>
          </a:solidFill>
          <a:ln w="9525">
            <a:solidFill>
              <a:srgbClr val="E2E8F0"/>
            </a:solidFill>
            <a:prstDash val="solid"/>
          </a:ln>
          <a:effectLst>
            <a:outerShdw sx="100000" sy="100000" kx="0" ky="0" algn="bl" rotWithShape="0" blurRad="127000" dist="38100" dir="5400000">
              <a:srgbClr val="0B153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498848" y="4096512"/>
            <a:ext cx="10972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726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4498848" y="4617720"/>
            <a:ext cx="3063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Deteksi Real-Time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498848" y="5047488"/>
            <a:ext cx="306324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Adaptasi pipeline ke arsitektur streaming (Apache Kafka / Flink) untuk industri.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Deteksi Anomali Transaksi Kartu Kredit — Isolation Forest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729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320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645920"/>
            <a:ext cx="4754880" cy="4754880"/>
          </a:xfrm>
          <a:prstGeom prst="ellipse">
            <a:avLst/>
          </a:prstGeom>
          <a:solidFill>
            <a:srgbClr val="1E2F5C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4389120"/>
            <a:ext cx="4114800" cy="4114800"/>
          </a:xfrm>
          <a:prstGeom prst="ellipse">
            <a:avLst/>
          </a:prstGeom>
          <a:solidFill>
            <a:srgbClr val="1E2F5C"/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30088" y="196596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0" y="2880360"/>
            <a:ext cx="12191695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Terima Kasih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1371600" y="3657600"/>
            <a:ext cx="944849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Deteksi Anomali Transaksi Kartu Kredit Menggunakan Algoritma Isolation Forest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371600" y="4160520"/>
            <a:ext cx="94484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Muhammad Sahal Anwar Hadi  ·  24260032  ·  Teknik Informatika, UNUSIA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Deteksi Anomali Transaksi Kartu Kredit Menggunakan Algoritma Isolation Forest</dc:title>
  <dc:subject>PptxGenJS Presentation</dc:subject>
  <dc:creator>Muhammad Sahal Anwar Hadi</dc:creator>
  <cp:lastModifiedBy>Muhammad Sahal Anwar Hadi</cp:lastModifiedBy>
  <cp:revision>1</cp:revision>
  <dcterms:created xsi:type="dcterms:W3CDTF">2026-07-03T06:26:00Z</dcterms:created>
  <dcterms:modified xsi:type="dcterms:W3CDTF">2026-07-03T06:26:00Z</dcterms:modified>
</cp:coreProperties>
</file>